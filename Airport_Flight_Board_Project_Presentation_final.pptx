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70" r:id="rId23"/>
    <p:sldId id="269" r:id="rId22"/>
    <p:sldId id="268" r:id="rId21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shot1.png"/><Relationship Id="rId11" Type="http://schemas.openxmlformats.org/officeDocument/2006/relationships/image" Target="../media/shot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shot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shot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shot3.png"/><Relationship Id="rId11" Type="http://schemas.openxmlformats.org/officeDocument/2006/relationships/image" Target="../media/shot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z="4400"/>
              <a:t>Airport Flight Board &amp; Scheduler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10" name="Student 1"/>
          <p:cNvSpPr txBox="1"/>
          <p:nvPr/>
        </p:nvSpPr>
        <p:spPr>
          <a:xfrm>
            <a:off x="1527048" y="38404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/>
              <a:t>Dheeraj Jasti</a:t>
            </a:r>
          </a:p>
          <a:p>
            <a:pPr algn="ctr">
              <a:spcBef>
                <a:spcPts val="600"/>
              </a:spcBef>
            </a:pPr>
            <a:r>
              <a:rPr sz="2200"/>
              <a:t>2620030644</a:t>
            </a:r>
          </a:p>
        </p:txBody>
      </p:sp>
      <p:sp>
        <p:nvSpPr>
          <p:cNvPr id="11" name="Student 2"/>
          <p:cNvSpPr txBox="1"/>
          <p:nvPr/>
        </p:nvSpPr>
        <p:spPr>
          <a:xfrm>
            <a:off x="6099048" y="38404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/>
              <a:t>Shashank Varma</a:t>
            </a:r>
          </a:p>
          <a:p>
            <a:pPr algn="ctr">
              <a:spcBef>
                <a:spcPts val="600"/>
              </a:spcBef>
            </a:pPr>
            <a:r>
              <a:rPr sz="2200"/>
              <a:t>2620030229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/>
              <a:t>A centralized system that automates flight records, gate assignments and scheduling at an airport</a:t>
            </a:r>
            <a:endParaRPr lang="en-IN"/>
          </a:p>
          <a:p>
            <a:pPr/>
            <a:r>
              <a:rPr sz="2600"/>
              <a:t>Admins can add, update, search and remove flights (number, airline, source, destination, time, gate, status)</a:t>
            </a:r>
          </a:p>
          <a:p>
            <a:pPr/>
            <a:r>
              <a:rPr sz="2600"/>
              <a:t>Automatic gate-conflict detection when two flights get overlapping gate times</a:t>
            </a:r>
          </a:p>
          <a:p>
            <a:pPr/>
            <a:r>
              <a:rPr sz="2600"/>
              <a:t>Passengers can search a flight or view a self-updating board of arrivals, departures and delays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/>
              <a:t>Airports still track flights and gates manually on fixed displays</a:t>
            </a:r>
            <a:endParaRPr lang="en-IN"/>
          </a:p>
          <a:p>
            <a:pPr/>
            <a:r>
              <a:rPr sz="2600"/>
              <a:t>Manual updates are slow and cannot keep up with delays or gate swaps</a:t>
            </a:r>
          </a:p>
          <a:p>
            <a:pPr/>
            <a:r>
              <a:rPr sz="2600"/>
              <a:t>No automatic check for overlapping gate slots</a:t>
            </a:r>
          </a:p>
          <a:p>
            <a:pPr/>
            <a:r>
              <a:rPr sz="2600"/>
              <a:t>Searching flights or building reports means digging through paperwork</a:t>
            </a:r>
          </a:p>
          <a:p>
            <a:pPr/>
            <a:r>
              <a:rPr sz="2600"/>
              <a:t>Goal: one centralized system with conflict detection and a live flight board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Topic 1"/>
          <p:cNvSpPr/>
          <p:nvPr/>
        </p:nvSpPr>
        <p:spPr>
          <a:xfrm>
            <a:off x="838504" y="1828800"/>
            <a:ext cx="1600200" cy="219456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7" name="Topic 2"/>
          <p:cNvSpPr/>
          <p:nvPr/>
        </p:nvSpPr>
        <p:spPr>
          <a:xfrm>
            <a:off x="2621584" y="1828800"/>
            <a:ext cx="1600200" cy="219456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Data Types</a:t>
            </a:r>
          </a:p>
        </p:txBody>
      </p:sp>
      <p:sp>
        <p:nvSpPr>
          <p:cNvPr id="8" name="Topic 3"/>
          <p:cNvSpPr/>
          <p:nvPr/>
        </p:nvSpPr>
        <p:spPr>
          <a:xfrm>
            <a:off x="4404664" y="1828800"/>
            <a:ext cx="1600200" cy="219456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Constants</a:t>
            </a:r>
          </a:p>
        </p:txBody>
      </p:sp>
      <p:sp>
        <p:nvSpPr>
          <p:cNvPr id="9" name="Topic 4"/>
          <p:cNvSpPr/>
          <p:nvPr/>
        </p:nvSpPr>
        <p:spPr>
          <a:xfrm>
            <a:off x="6187744" y="1828800"/>
            <a:ext cx="1600200" cy="219456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Literals</a:t>
            </a:r>
          </a:p>
        </p:txBody>
      </p:sp>
      <p:sp>
        <p:nvSpPr>
          <p:cNvPr id="10" name="Topic 5"/>
          <p:cNvSpPr/>
          <p:nvPr/>
        </p:nvSpPr>
        <p:spPr>
          <a:xfrm>
            <a:off x="7970824" y="1828800"/>
            <a:ext cx="1600200" cy="219456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Operators</a:t>
            </a:r>
          </a:p>
        </p:txBody>
      </p:sp>
      <p:sp>
        <p:nvSpPr>
          <p:cNvPr id="11" name="Topic 6"/>
          <p:cNvSpPr/>
          <p:nvPr/>
        </p:nvSpPr>
        <p:spPr>
          <a:xfrm>
            <a:off x="9753904" y="1828800"/>
            <a:ext cx="1600200" cy="219456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Typecasting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Topic 1"/>
          <p:cNvSpPr/>
          <p:nvPr/>
        </p:nvSpPr>
        <p:spPr>
          <a:xfrm>
            <a:off x="838504" y="1828800"/>
            <a:ext cx="5166360" cy="91440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Conditional Statements</a:t>
            </a:r>
          </a:p>
        </p:txBody>
      </p:sp>
      <p:sp>
        <p:nvSpPr>
          <p:cNvPr id="7" name="Subtopics 1"/>
          <p:cNvSpPr/>
          <p:nvPr/>
        </p:nvSpPr>
        <p:spPr>
          <a:xfrm>
            <a:off x="838504" y="2880360"/>
            <a:ext cx="5166360" cy="2057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/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if / else-if ladder</a:t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switch-case-default-break</a:t>
            </a:r>
          </a:p>
        </p:txBody>
      </p:sp>
      <p:sp>
        <p:nvSpPr>
          <p:cNvPr id="8" name="Topic 2"/>
          <p:cNvSpPr/>
          <p:nvPr/>
        </p:nvSpPr>
        <p:spPr>
          <a:xfrm>
            <a:off x="6187744" y="1828800"/>
            <a:ext cx="5166360" cy="91440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</a:rPr>
              <a:t>Loops</a:t>
            </a:r>
          </a:p>
        </p:txBody>
      </p:sp>
      <p:sp>
        <p:nvSpPr>
          <p:cNvPr id="9" name="Subtopics 2"/>
          <p:cNvSpPr/>
          <p:nvPr/>
        </p:nvSpPr>
        <p:spPr>
          <a:xfrm>
            <a:off x="6187744" y="2880360"/>
            <a:ext cx="5166360" cy="2057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/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Nested loops</a:t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Compound statements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Topic 1"/>
          <p:cNvSpPr/>
          <p:nvPr/>
        </p:nvSpPr>
        <p:spPr>
          <a:xfrm>
            <a:off x="838504" y="1828800"/>
            <a:ext cx="5166360" cy="91440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7" name="Subtopics 1"/>
          <p:cNvSpPr/>
          <p:nvPr/>
        </p:nvSpPr>
        <p:spPr>
          <a:xfrm>
            <a:off x="838504" y="2880360"/>
            <a:ext cx="5166360" cy="2057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/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Parameter passing</a:t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Return values</a:t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Method overloading</a:t>
            </a:r>
          </a:p>
        </p:txBody>
      </p:sp>
      <p:sp>
        <p:nvSpPr>
          <p:cNvPr id="8" name="Topic 2"/>
          <p:cNvSpPr/>
          <p:nvPr/>
        </p:nvSpPr>
        <p:spPr>
          <a:xfrm>
            <a:off x="6187744" y="1828800"/>
            <a:ext cx="5166360" cy="91440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Arrays</a:t>
            </a:r>
          </a:p>
        </p:txBody>
      </p:sp>
      <p:sp>
        <p:nvSpPr>
          <p:cNvPr id="9" name="Subtopics 2"/>
          <p:cNvSpPr/>
          <p:nvPr/>
        </p:nvSpPr>
        <p:spPr>
          <a:xfrm>
            <a:off x="6187744" y="2880360"/>
            <a:ext cx="5166360" cy="2057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/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1D array</a:t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2D array</a:t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Searching</a:t>
            </a:r>
          </a:p>
          <a:p>
            <a:pPr algn="ctr"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</a:rPr>
              <a:t>Summation, average, counting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Topic 1"/>
          <p:cNvSpPr/>
          <p:nvPr/>
        </p:nvSpPr>
        <p:spPr>
          <a:xfrm>
            <a:off x="838504" y="1828800"/>
            <a:ext cx="1956815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Inheritance</a:t>
            </a:r>
          </a:p>
        </p:txBody>
      </p:sp>
      <p:sp>
        <p:nvSpPr>
          <p:cNvPr id="7" name="Topic 2"/>
          <p:cNvSpPr/>
          <p:nvPr/>
        </p:nvSpPr>
        <p:spPr>
          <a:xfrm>
            <a:off x="2978200" y="1828800"/>
            <a:ext cx="1956815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Polymorphism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</a:rPr>
              <a:t>(runtime binding)</a:t>
            </a:r>
          </a:p>
        </p:txBody>
      </p:sp>
      <p:sp>
        <p:nvSpPr>
          <p:cNvPr id="8" name="Topic 3"/>
          <p:cNvSpPr/>
          <p:nvPr/>
        </p:nvSpPr>
        <p:spPr>
          <a:xfrm>
            <a:off x="5117896" y="1828800"/>
            <a:ext cx="1956815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Abstract Classes</a:t>
            </a:r>
          </a:p>
        </p:txBody>
      </p:sp>
      <p:sp>
        <p:nvSpPr>
          <p:cNvPr id="9" name="Topic 4"/>
          <p:cNvSpPr/>
          <p:nvPr/>
        </p:nvSpPr>
        <p:spPr>
          <a:xfrm>
            <a:off x="7257592" y="1828800"/>
            <a:ext cx="1956815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Interfaces</a:t>
            </a:r>
          </a:p>
        </p:txBody>
      </p:sp>
      <p:sp>
        <p:nvSpPr>
          <p:cNvPr id="10" name="Topic 5"/>
          <p:cNvSpPr/>
          <p:nvPr/>
        </p:nvSpPr>
        <p:spPr>
          <a:xfrm>
            <a:off x="9397288" y="1828800"/>
            <a:ext cx="1956815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Packages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Topic 1"/>
          <p:cNvSpPr/>
          <p:nvPr/>
        </p:nvSpPr>
        <p:spPr>
          <a:xfrm>
            <a:off x="838504" y="1828800"/>
            <a:ext cx="1600200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Exception Handling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</a:rPr>
              <a:t>(exception hierarchy)</a:t>
            </a:r>
          </a:p>
        </p:txBody>
      </p:sp>
      <p:sp>
        <p:nvSpPr>
          <p:cNvPr id="7" name="Topic 2"/>
          <p:cNvSpPr/>
          <p:nvPr/>
        </p:nvSpPr>
        <p:spPr>
          <a:xfrm>
            <a:off x="2621584" y="1828800"/>
            <a:ext cx="1600200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File I/O Streams</a:t>
            </a:r>
          </a:p>
        </p:txBody>
      </p:sp>
      <p:sp>
        <p:nvSpPr>
          <p:cNvPr id="8" name="Topic 3"/>
          <p:cNvSpPr/>
          <p:nvPr/>
        </p:nvSpPr>
        <p:spPr>
          <a:xfrm>
            <a:off x="4404664" y="1828800"/>
            <a:ext cx="1600200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Collections Framework</a:t>
            </a:r>
          </a:p>
        </p:txBody>
      </p:sp>
      <p:sp>
        <p:nvSpPr>
          <p:cNvPr id="9" name="Topic 4"/>
          <p:cNvSpPr/>
          <p:nvPr/>
        </p:nvSpPr>
        <p:spPr>
          <a:xfrm>
            <a:off x="6187744" y="1828800"/>
            <a:ext cx="1600200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Generics</a:t>
            </a:r>
          </a:p>
        </p:txBody>
      </p:sp>
      <p:sp>
        <p:nvSpPr>
          <p:cNvPr id="10" name="Topic 5"/>
          <p:cNvSpPr/>
          <p:nvPr/>
        </p:nvSpPr>
        <p:spPr>
          <a:xfrm>
            <a:off x="7970824" y="1828800"/>
            <a:ext cx="1600200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Lambda Expressions</a:t>
            </a:r>
          </a:p>
        </p:txBody>
      </p:sp>
      <p:sp>
        <p:nvSpPr>
          <p:cNvPr id="11" name="Topic 6"/>
          <p:cNvSpPr/>
          <p:nvPr/>
        </p:nvSpPr>
        <p:spPr>
          <a:xfrm>
            <a:off x="9753904" y="1828800"/>
            <a:ext cx="1600200" cy="237744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Stream API &amp; Optional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Topic 1"/>
          <p:cNvSpPr/>
          <p:nvPr/>
        </p:nvSpPr>
        <p:spPr>
          <a:xfrm>
            <a:off x="838504" y="1828800"/>
            <a:ext cx="3383279" cy="91440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UniFlow System</a:t>
            </a:r>
          </a:p>
        </p:txBody>
      </p:sp>
      <p:sp>
        <p:nvSpPr>
          <p:cNvPr id="7" name="Subtopics 1"/>
          <p:cNvSpPr/>
          <p:nvPr/>
        </p:nvSpPr>
        <p:spPr>
          <a:xfrm>
            <a:off x="838504" y="2880360"/>
            <a:ext cx="3383279" cy="2057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/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262626"/>
                </a:solidFill>
              </a:rPr>
              <a:t>Architecture and workflow</a:t>
            </a:r>
          </a:p>
        </p:txBody>
      </p:sp>
      <p:sp>
        <p:nvSpPr>
          <p:cNvPr id="8" name="Topic 2"/>
          <p:cNvSpPr/>
          <p:nvPr/>
        </p:nvSpPr>
        <p:spPr>
          <a:xfrm>
            <a:off x="4404664" y="1828800"/>
            <a:ext cx="3383279" cy="91440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9" name="Subtopics 2"/>
          <p:cNvSpPr/>
          <p:nvPr/>
        </p:nvSpPr>
        <p:spPr>
          <a:xfrm>
            <a:off x="4404664" y="2880360"/>
            <a:ext cx="3383279" cy="2057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/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262626"/>
                </a:solidFill>
              </a:rPr>
              <a:t>OOP, file handling, collections, functional programming</a:t>
            </a:r>
          </a:p>
        </p:txBody>
      </p:sp>
      <p:sp>
        <p:nvSpPr>
          <p:cNvPr id="10" name="Topic 3"/>
          <p:cNvSpPr/>
          <p:nvPr/>
        </p:nvSpPr>
        <p:spPr>
          <a:xfrm>
            <a:off x="7970824" y="1828800"/>
            <a:ext cx="3383279" cy="914400"/>
          </a:xfrm>
          <a:prstGeom prst="roundRect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Testing &amp; Persistence</a:t>
            </a:r>
          </a:p>
        </p:txBody>
      </p:sp>
      <p:sp>
        <p:nvSpPr>
          <p:cNvPr id="11" name="Subtopics 3"/>
          <p:cNvSpPr/>
          <p:nvPr/>
        </p:nvSpPr>
        <p:spPr>
          <a:xfrm>
            <a:off x="7970824" y="2880360"/>
            <a:ext cx="3383279" cy="2057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/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262626"/>
                </a:solidFill>
              </a:rPr>
              <a:t>File-backed persistence</a:t>
            </a:r>
          </a:p>
          <a:p>
            <a:pPr algn="ctr">
              <a:spcAft>
                <a:spcPts val="800"/>
              </a:spcAft>
            </a:pPr>
            <a:r>
              <a:rPr sz="1800">
                <a:solidFill>
                  <a:srgbClr val="262626"/>
                </a:solidFill>
              </a:rPr>
              <a:t>Performance, modularity,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/>
              <a:t>Replaces manual flight tracking with one centralized, automated system</a:t>
            </a:r>
            <a:endParaRPr lang="en-IN"/>
          </a:p>
          <a:p>
            <a:pPr/>
            <a:r>
              <a:rPr sz="2600"/>
              <a:t>Gate-conflict detection prevents overlapping gate assignments</a:t>
            </a:r>
          </a:p>
          <a:p>
            <a:pPr/>
            <a:r>
              <a:rPr sz="2600"/>
              <a:t>Live flight board keeps arrivals, departures and delays accurate for passengers and staff</a:t>
            </a:r>
          </a:p>
          <a:p>
            <a:pPr/>
            <a:r>
              <a:rPr sz="2600"/>
              <a:t>Less manual error, saved time and easy schedule reports</a:t>
            </a:r>
          </a:p>
          <a:p>
            <a:pPr/>
            <a:r>
              <a:rPr sz="2600"/>
              <a:t>Future scope: delay notifications, real-time refresh and role-based access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 – Code (1 of 3)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20" name="Code screenshot 1" descr="Code screenshot 1 of the Airport Flight Board Java progra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880" y="1508760"/>
            <a:ext cx="5394960" cy="4276256"/>
          </a:xfrm>
          <a:prstGeom prst="rect">
            <a:avLst/>
          </a:prstGeom>
        </p:spPr>
      </p:pic>
      <p:pic>
        <p:nvPicPr>
          <p:cNvPr id="21" name="Code screenshot 2" descr="Code screenshot 2 of the Airport Flight Board Java progra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1508760"/>
            <a:ext cx="5394960" cy="441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 – Expected Output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20" name="Output screenshot" descr="Output screenshot of the Airport Flight Board Java progra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9846" y="1508760"/>
            <a:ext cx="399230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 – Code (3 of 3)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20" name="Code screenshot 5" descr="Code screenshot 5 of the Airport Flight Board Java progra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718" y="1508760"/>
            <a:ext cx="753856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 – Code (2 of 3)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20" name="Code screenshot 3" descr="Code screenshot 3 of the Airport Flight Board Java progra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880" y="1508760"/>
            <a:ext cx="5394960" cy="4519726"/>
          </a:xfrm>
          <a:prstGeom prst="rect">
            <a:avLst/>
          </a:prstGeom>
        </p:spPr>
      </p:pic>
      <p:pic>
        <p:nvPicPr>
          <p:cNvPr id="21" name="Code screenshot 4" descr="Code screenshot 4 of the Airport Flight Board Java progra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1508760"/>
            <a:ext cx="5394960" cy="324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